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800100" y="6191402"/>
            <a:ext cx="381305" cy="38405"/>
          </a:xfrm>
          <a:prstGeom prst="roundRect">
            <a:avLst>
              <a:gd name="adj" fmla="val 119047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0100" y="2360981"/>
            <a:ext cx="8449056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ライブコマース配信分析レポート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800100" y="3248863"/>
            <a:ext cx="662482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タイトル・サブタイトル・配信概要を備えたカバーページ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00100" y="3753612"/>
            <a:ext cx="81729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対象データ: 開始1〜53分 ／ カテゴリ: コスメ（リップ中心） ／ 出演: 佐々木氏・モデルLISA氏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95705" y="6096305"/>
            <a:ext cx="51727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清潔感のあるホワイトベース＋ブルーアクセント（master: cover_basic）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33095" y="1152144"/>
            <a:ext cx="11125505" cy="38405"/>
          </a:xfrm>
          <a:prstGeom prst="roundRect">
            <a:avLst>
              <a:gd name="adj" fmla="val 1190470"/>
            </a:avLst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533095" y="1399946"/>
            <a:ext cx="3600907" cy="2266798"/>
          </a:xfrm>
          <a:prstGeom prst="roundRect">
            <a:avLst>
              <a:gd name="adj" fmla="val 2034"/>
            </a:avLst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4146" y="1657807"/>
            <a:ext cx="95098" cy="9509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714146" y="2502713"/>
            <a:ext cx="3238805" cy="267005"/>
          </a:xfrm>
          <a:prstGeom prst="roundRect">
            <a:avLst>
              <a:gd name="adj" fmla="val 34246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0100" y="2541118"/>
            <a:ext cx="9198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40分でピーク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8594" y="1399946"/>
            <a:ext cx="3600907" cy="2266798"/>
          </a:xfrm>
          <a:prstGeom prst="roundRect">
            <a:avLst>
              <a:gd name="adj" fmla="val 2034"/>
            </a:avLst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79646" y="1657807"/>
            <a:ext cx="95098" cy="9509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Shape 9"/>
          <p:cNvSpPr/>
          <p:nvPr/>
        </p:nvSpPr>
        <p:spPr>
          <a:xfrm>
            <a:off x="8064094" y="1399946"/>
            <a:ext cx="3600907" cy="2266798"/>
          </a:xfrm>
          <a:prstGeom prst="roundRect">
            <a:avLst>
              <a:gd name="adj" fmla="val 2034"/>
            </a:avLst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45145" y="1657807"/>
            <a:ext cx="95098" cy="9509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3" name="Shape 11"/>
          <p:cNvSpPr/>
          <p:nvPr/>
        </p:nvSpPr>
        <p:spPr>
          <a:xfrm>
            <a:off x="533095" y="3834079"/>
            <a:ext cx="3600907" cy="2266798"/>
          </a:xfrm>
          <a:prstGeom prst="roundRect">
            <a:avLst>
              <a:gd name="adj" fmla="val 2034"/>
            </a:avLst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4146" y="4091026"/>
            <a:ext cx="95098" cy="9509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5" name="Shape 13"/>
          <p:cNvSpPr/>
          <p:nvPr/>
        </p:nvSpPr>
        <p:spPr>
          <a:xfrm>
            <a:off x="714146" y="4936846"/>
            <a:ext cx="3238805" cy="267005"/>
          </a:xfrm>
          <a:prstGeom prst="roundRect">
            <a:avLst>
              <a:gd name="adj" fmla="val 34246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0100" y="4975250"/>
            <a:ext cx="12819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36分 ピーク16件/分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98594" y="3834079"/>
            <a:ext cx="3600907" cy="2266798"/>
          </a:xfrm>
          <a:prstGeom prst="roundRect">
            <a:avLst>
              <a:gd name="adj" fmla="val 2034"/>
            </a:avLst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9646" y="4091026"/>
            <a:ext cx="95098" cy="95098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9" name="Shape 17"/>
          <p:cNvSpPr/>
          <p:nvPr/>
        </p:nvSpPr>
        <p:spPr>
          <a:xfrm>
            <a:off x="4479646" y="4936846"/>
            <a:ext cx="3238805" cy="267005"/>
          </a:xfrm>
          <a:prstGeom prst="roundRect">
            <a:avLst>
              <a:gd name="adj" fmla="val 34246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65599" y="4975250"/>
            <a:ext cx="12819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53分 ピーク51件/分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64094" y="3834079"/>
            <a:ext cx="3600907" cy="2266798"/>
          </a:xfrm>
          <a:prstGeom prst="roundRect">
            <a:avLst>
              <a:gd name="adj" fmla="val 2034"/>
            </a:avLst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45145" y="4091026"/>
            <a:ext cx="95098" cy="9509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33095" y="381305"/>
            <a:ext cx="291510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主要KPIサマリー</a:t>
            </a:r>
            <a:endParaRPr lang="en-US" sz="2700" dirty="0"/>
          </a:p>
        </p:txBody>
      </p:sp>
      <p:sp>
        <p:nvSpPr>
          <p:cNvPr id="24" name="Text 22"/>
          <p:cNvSpPr txBox="1"/>
          <p:nvPr/>
        </p:nvSpPr>
        <p:spPr>
          <a:xfrm>
            <a:off x="8051292" y="599846"/>
            <a:ext cx="37243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対象: 開始1〜53分／カテゴリ: コスメ（リップ中心）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86054" y="1580998"/>
            <a:ext cx="23582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同時視聴ユーザー数（最大）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14146" y="1837944"/>
            <a:ext cx="11530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276</a:t>
            </a:r>
            <a:endParaRPr lang="en-US" sz="3600" dirty="0"/>
          </a:p>
        </p:txBody>
      </p:sp>
      <p:sp>
        <p:nvSpPr>
          <p:cNvPr id="27" name="Text 25"/>
          <p:cNvSpPr txBox="1"/>
          <p:nvPr/>
        </p:nvSpPr>
        <p:spPr>
          <a:xfrm>
            <a:off x="1619402" y="2171700"/>
            <a:ext cx="3008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651553" y="1580998"/>
            <a:ext cx="13295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いいね（合計）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479646" y="1837944"/>
            <a:ext cx="11530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538</a:t>
            </a:r>
            <a:endParaRPr lang="en-US" sz="3600" dirty="0"/>
          </a:p>
        </p:txBody>
      </p:sp>
      <p:sp>
        <p:nvSpPr>
          <p:cNvPr id="30" name="Text 28"/>
          <p:cNvSpPr txBox="1"/>
          <p:nvPr/>
        </p:nvSpPr>
        <p:spPr>
          <a:xfrm>
            <a:off x="5384902" y="2171700"/>
            <a:ext cx="3008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件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479646" y="2502713"/>
            <a:ext cx="16056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34分で最大88件（参考）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8417052" y="1580998"/>
            <a:ext cx="13295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シェア（合計）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245145" y="1837944"/>
            <a:ext cx="619963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</a:t>
            </a:r>
            <a:endParaRPr lang="en-US" sz="3600" dirty="0"/>
          </a:p>
        </p:txBody>
      </p:sp>
      <p:sp>
        <p:nvSpPr>
          <p:cNvPr id="34" name="Text 32"/>
          <p:cNvSpPr txBox="1"/>
          <p:nvPr/>
        </p:nvSpPr>
        <p:spPr>
          <a:xfrm>
            <a:off x="8610905" y="2171700"/>
            <a:ext cx="3008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件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8245145" y="2502713"/>
            <a:ext cx="17007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本配信ではシェア反応なし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86054" y="4015130"/>
            <a:ext cx="15005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チャット（合計）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714146" y="4272077"/>
            <a:ext cx="11530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244</a:t>
            </a:r>
            <a:endParaRPr lang="en-US" sz="3600" dirty="0"/>
          </a:p>
        </p:txBody>
      </p:sp>
      <p:sp>
        <p:nvSpPr>
          <p:cNvPr id="38" name="Text 36"/>
          <p:cNvSpPr txBox="1"/>
          <p:nvPr/>
        </p:nvSpPr>
        <p:spPr>
          <a:xfrm>
            <a:off x="1619402" y="4604918"/>
            <a:ext cx="3008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件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4651553" y="4015130"/>
            <a:ext cx="18434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商品クリック（合計）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4479646" y="4272077"/>
            <a:ext cx="11530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612</a:t>
            </a:r>
            <a:endParaRPr lang="en-US" sz="3600" dirty="0"/>
          </a:p>
        </p:txBody>
      </p:sp>
      <p:sp>
        <p:nvSpPr>
          <p:cNvPr id="41" name="Text 39"/>
          <p:cNvSpPr txBox="1"/>
          <p:nvPr/>
        </p:nvSpPr>
        <p:spPr>
          <a:xfrm>
            <a:off x="5384902" y="4604918"/>
            <a:ext cx="3008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件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8417052" y="4015130"/>
            <a:ext cx="16724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カート追加（合計）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8245145" y="4272077"/>
            <a:ext cx="619963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</a:t>
            </a:r>
            <a:endParaRPr lang="en-US" sz="3600" dirty="0"/>
          </a:p>
        </p:txBody>
      </p:sp>
      <p:sp>
        <p:nvSpPr>
          <p:cNvPr id="44" name="Text 42"/>
          <p:cNvSpPr txBox="1"/>
          <p:nvPr/>
        </p:nvSpPr>
        <p:spPr>
          <a:xfrm>
            <a:off x="8610905" y="4604918"/>
            <a:ext cx="3008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件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8245145" y="4936846"/>
            <a:ext cx="15672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カート導線の改善が必要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533095" y="6248095"/>
            <a:ext cx="5082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注記: 数値は提供データに基づき算出。カードの色は識別用の視覚アクセントです。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76833"/>
            <a:ext cx="11277295" cy="38405"/>
          </a:xfrm>
          <a:prstGeom prst="roundRect">
            <a:avLst>
              <a:gd name="adj" fmla="val 1190470"/>
            </a:avLst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5982005"/>
            <a:ext cx="209398" cy="38405"/>
          </a:xfrm>
          <a:prstGeom prst="roundRect">
            <a:avLst>
              <a:gd name="adj" fmla="val 119047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314554"/>
            <a:ext cx="531540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時系列(1) 同時視聴ユーザー数の推移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796442"/>
            <a:ext cx="3353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X=経過時間(分) 1〜53 ／ Y=同時視聴人数（人）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43407" y="5905195"/>
            <a:ext cx="13002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同時視聴ユーザー数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191402"/>
            <a:ext cx="36914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注釈: 1→2分 +60%増／29〜30分 高止まり／40分 ピーク276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457200" y="1348740"/>
            <a:ext cx="11277295" cy="4457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76833"/>
            <a:ext cx="11277295" cy="38405"/>
          </a:xfrm>
          <a:prstGeom prst="roundRect">
            <a:avLst>
              <a:gd name="adj" fmla="val 1190470"/>
            </a:avLst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5959145"/>
            <a:ext cx="209398" cy="38405"/>
          </a:xfrm>
          <a:prstGeom prst="roundRect">
            <a:avLst>
              <a:gd name="adj" fmla="val 1190470"/>
            </a:avLst>
          </a:prstGeom>
          <a:solidFill>
            <a:srgbClr val="A855F7"/>
          </a:solidFill>
          <a:ln/>
        </p:spPr>
      </p:sp>
      <p:sp>
        <p:nvSpPr>
          <p:cNvPr id="6" name="Shape 4"/>
          <p:cNvSpPr/>
          <p:nvPr/>
        </p:nvSpPr>
        <p:spPr>
          <a:xfrm>
            <a:off x="2247595" y="5959145"/>
            <a:ext cx="209398" cy="38405"/>
          </a:xfrm>
          <a:prstGeom prst="roundRect">
            <a:avLst>
              <a:gd name="adj" fmla="val 1190470"/>
            </a:avLst>
          </a:prstGeom>
          <a:solidFill>
            <a:srgbClr val="0EA5E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314554"/>
            <a:ext cx="562996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時系列(2) 商品クリック数とカート追加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796442"/>
            <a:ext cx="50959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X=経過時間(分) 1〜53 ／ Y1=商品クリック（件）／ Y2=カート追加（件）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43407" y="5882335"/>
            <a:ext cx="14337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商品クリック（左軸）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533802" y="5882335"/>
            <a:ext cx="13002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カート追加（右軸）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225235"/>
            <a:ext cx="66915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注釈: 19分 クリック20件（実演による誘導）／53分 ピーク51件（明確な購入誘導）。カート追加は全編で0件。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48740"/>
            <a:ext cx="11277295" cy="44384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76833"/>
            <a:ext cx="11277295" cy="38405"/>
          </a:xfrm>
          <a:prstGeom prst="roundRect">
            <a:avLst>
              <a:gd name="adj" fmla="val 1190470"/>
            </a:avLst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5959145"/>
            <a:ext cx="209398" cy="38405"/>
          </a:xfrm>
          <a:prstGeom prst="roundRect">
            <a:avLst>
              <a:gd name="adj" fmla="val 1190470"/>
            </a:avLst>
          </a:prstGeom>
          <a:solidFill>
            <a:srgbClr val="F43F5E"/>
          </a:solidFill>
          <a:ln/>
        </p:spPr>
      </p:sp>
      <p:sp>
        <p:nvSpPr>
          <p:cNvPr id="6" name="Shape 4"/>
          <p:cNvSpPr/>
          <p:nvPr/>
        </p:nvSpPr>
        <p:spPr>
          <a:xfrm>
            <a:off x="1848002" y="5959145"/>
            <a:ext cx="209398" cy="38405"/>
          </a:xfrm>
          <a:prstGeom prst="roundRect">
            <a:avLst>
              <a:gd name="adj" fmla="val 1190470"/>
            </a:avLst>
          </a:prstGeom>
          <a:solidFill>
            <a:srgbClr val="06B6D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314554"/>
            <a:ext cx="47055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時系列(3) いいね数とチャット数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796442"/>
            <a:ext cx="44869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X=経過時間(分) 1〜53 ／ Y1=いいね（件）／ Y2=チャット（件）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43407" y="5882335"/>
            <a:ext cx="10341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いいね（左軸）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133295" y="5882335"/>
            <a:ext cx="11676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チャット（右軸）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225235"/>
            <a:ext cx="51581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注釈: 34分 いいね88件（新作実演開始）／36分 チャット16件（双方向の問いかけ）。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48740"/>
            <a:ext cx="11277295" cy="44384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1171346"/>
            <a:ext cx="11162995" cy="38405"/>
          </a:xfrm>
          <a:prstGeom prst="roundRect">
            <a:avLst>
              <a:gd name="adj" fmla="val 1190470"/>
            </a:avLst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1362456"/>
            <a:ext cx="1800454" cy="400507"/>
          </a:xfrm>
          <a:prstGeom prst="roundRect">
            <a:avLst>
              <a:gd name="adj" fmla="val 5436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" y="1876349"/>
            <a:ext cx="5467198" cy="4315054"/>
          </a:xfrm>
          <a:prstGeom prst="roundRect">
            <a:avLst>
              <a:gd name="adj" fmla="val 561"/>
            </a:avLst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2551" y="2133295"/>
            <a:ext cx="95098" cy="9509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752551" y="2476195"/>
            <a:ext cx="171907" cy="171907"/>
          </a:xfrm>
          <a:prstGeom prst="roundRect">
            <a:avLst>
              <a:gd name="adj" fmla="val 118203"/>
            </a:avLst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752551" y="3038551"/>
            <a:ext cx="171907" cy="171907"/>
          </a:xfrm>
          <a:prstGeom prst="roundRect">
            <a:avLst>
              <a:gd name="adj" fmla="val 118203"/>
            </a:avLst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752551" y="3600907"/>
            <a:ext cx="171907" cy="171907"/>
          </a:xfrm>
          <a:prstGeom prst="roundRect">
            <a:avLst>
              <a:gd name="adj" fmla="val 118203"/>
            </a:avLst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6267298" y="1876349"/>
            <a:ext cx="5467198" cy="4315054"/>
          </a:xfrm>
          <a:prstGeom prst="roundRect">
            <a:avLst>
              <a:gd name="adj" fmla="val 561"/>
            </a:avLst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8349" y="2133295"/>
            <a:ext cx="95098" cy="9509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Shape 12"/>
          <p:cNvSpPr/>
          <p:nvPr/>
        </p:nvSpPr>
        <p:spPr>
          <a:xfrm>
            <a:off x="6448349" y="2476195"/>
            <a:ext cx="171907" cy="171907"/>
          </a:xfrm>
          <a:prstGeom prst="roundRect">
            <a:avLst>
              <a:gd name="adj" fmla="val 118203"/>
            </a:avLst>
          </a:prstGeom>
          <a:solidFill>
            <a:srgbClr val="E2E8F0"/>
          </a:solidFill>
          <a:ln/>
        </p:spPr>
      </p:sp>
      <p:sp>
        <p:nvSpPr>
          <p:cNvPr id="15" name="Shape 13"/>
          <p:cNvSpPr/>
          <p:nvPr/>
        </p:nvSpPr>
        <p:spPr>
          <a:xfrm>
            <a:off x="6448349" y="3038551"/>
            <a:ext cx="171907" cy="171907"/>
          </a:xfrm>
          <a:prstGeom prst="roundRect">
            <a:avLst>
              <a:gd name="adj" fmla="val 118203"/>
            </a:avLst>
          </a:prstGeom>
          <a:solidFill>
            <a:srgbClr val="E2E8F0"/>
          </a:solidFill>
          <a:ln/>
        </p:spPr>
      </p:sp>
      <p:sp>
        <p:nvSpPr>
          <p:cNvPr id="16" name="Shape 14"/>
          <p:cNvSpPr/>
          <p:nvPr/>
        </p:nvSpPr>
        <p:spPr>
          <a:xfrm>
            <a:off x="6448349" y="3600907"/>
            <a:ext cx="171907" cy="171907"/>
          </a:xfrm>
          <a:prstGeom prst="roundRect">
            <a:avLst>
              <a:gd name="adj" fmla="val 118203"/>
            </a:avLst>
          </a:prstGeom>
          <a:solidFill>
            <a:srgbClr val="E2E8F0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8349" y="3919118"/>
            <a:ext cx="171907" cy="171907"/>
          </a:xfrm>
          <a:prstGeom prst="roundRect">
            <a:avLst>
              <a:gd name="adj" fmla="val 118203"/>
            </a:avLst>
          </a:prstGeom>
          <a:solidFill>
            <a:srgbClr val="E2E8F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71500" y="314554"/>
            <a:ext cx="481523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単一指標分析｜同時視聴ユーザー数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571500" y="771754"/>
            <a:ext cx="45061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40分でピーク276人。ピーク要因と改善施策を箇条書きで整理。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" y="1447495"/>
            <a:ext cx="16669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ピーク 276人（40分）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23544" y="2057400"/>
            <a:ext cx="4718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洞察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90042" y="2440534"/>
            <a:ext cx="22677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19556" y="2476195"/>
            <a:ext cx="4855464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リップ多色紹介の山場が連続し、興味が持続（29〜30分は高止まり）。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90042" y="3002890"/>
            <a:ext cx="22677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19556" y="3038551"/>
            <a:ext cx="4903013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カメラの前後動作で可視性が上がり、実演の迫力が増加 → 40分で最大化。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90042" y="3564331"/>
            <a:ext cx="22677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19556" y="3600907"/>
            <a:ext cx="4817974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冒頭で「予約開始・送料無料」など具体的メリットを提示し、初期視聴が急増（1→2分で+60%）。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620256" y="2057400"/>
            <a:ext cx="4718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施策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482182" y="2440534"/>
            <a:ext cx="22677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715354" y="2476195"/>
            <a:ext cx="4951476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山場直前に「次は◯◯を実演」と予告し、ピーク直後に明確なCTA（購入・予約）を重ねる。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478524" y="3002890"/>
            <a:ext cx="235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715354" y="3038551"/>
            <a:ext cx="4855464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30〜40分帯に購入導線の手順実演を挿入（スマホ画面で押下ステップを見せる）。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481267" y="3564331"/>
            <a:ext cx="235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715354" y="3600907"/>
            <a:ext cx="44942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視覚演出＋用語の簡潔解説で新規層にも伝わる進行に統一。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398057" y="3883457"/>
            <a:ext cx="39776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KPI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715354" y="3919118"/>
            <a:ext cx="494141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視聴維持率、ピーク直後のCTAクリック率、30分到達者のCTRをモニタリング。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71500" y="6324905"/>
            <a:ext cx="34628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注記: 数値は提供データ（開始1〜53分）に基づく要約。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751722" y="6324905"/>
            <a:ext cx="30915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テンプレート: 分析インサイト（insight_bullets）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1171346"/>
            <a:ext cx="11162995" cy="38405"/>
          </a:xfrm>
          <a:prstGeom prst="roundRect">
            <a:avLst>
              <a:gd name="adj" fmla="val 1190470"/>
            </a:avLst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1362456"/>
            <a:ext cx="1705356" cy="400507"/>
          </a:xfrm>
          <a:prstGeom prst="roundRect">
            <a:avLst>
              <a:gd name="adj" fmla="val 5436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" y="1876349"/>
            <a:ext cx="5467198" cy="4315054"/>
          </a:xfrm>
          <a:prstGeom prst="roundRect">
            <a:avLst>
              <a:gd name="adj" fmla="val 561"/>
            </a:avLst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2551" y="2133295"/>
            <a:ext cx="95098" cy="9509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752551" y="2476195"/>
            <a:ext cx="171907" cy="171907"/>
          </a:xfrm>
          <a:prstGeom prst="roundRect">
            <a:avLst>
              <a:gd name="adj" fmla="val 118203"/>
            </a:avLst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752551" y="3038551"/>
            <a:ext cx="171907" cy="171907"/>
          </a:xfrm>
          <a:prstGeom prst="roundRect">
            <a:avLst>
              <a:gd name="adj" fmla="val 118203"/>
            </a:avLst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752551" y="3600907"/>
            <a:ext cx="171907" cy="171907"/>
          </a:xfrm>
          <a:prstGeom prst="roundRect">
            <a:avLst>
              <a:gd name="adj" fmla="val 118203"/>
            </a:avLst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752551" y="4162349"/>
            <a:ext cx="171907" cy="171907"/>
          </a:xfrm>
          <a:prstGeom prst="roundRect">
            <a:avLst>
              <a:gd name="adj" fmla="val 118203"/>
            </a:avLst>
          </a:prstGeom>
          <a:solidFill>
            <a:srgbClr val="E2E8F0"/>
          </a:solidFill>
          <a:ln/>
        </p:spPr>
      </p:sp>
      <p:sp>
        <p:nvSpPr>
          <p:cNvPr id="13" name="Shape 11"/>
          <p:cNvSpPr/>
          <p:nvPr/>
        </p:nvSpPr>
        <p:spPr>
          <a:xfrm>
            <a:off x="6267298" y="1876349"/>
            <a:ext cx="5467198" cy="4315054"/>
          </a:xfrm>
          <a:prstGeom prst="roundRect">
            <a:avLst>
              <a:gd name="adj" fmla="val 561"/>
            </a:avLst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8349" y="2133295"/>
            <a:ext cx="95098" cy="9509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Shape 13"/>
          <p:cNvSpPr/>
          <p:nvPr/>
        </p:nvSpPr>
        <p:spPr>
          <a:xfrm>
            <a:off x="6448349" y="2476195"/>
            <a:ext cx="171907" cy="171907"/>
          </a:xfrm>
          <a:prstGeom prst="roundRect">
            <a:avLst>
              <a:gd name="adj" fmla="val 118203"/>
            </a:avLst>
          </a:prstGeom>
          <a:solidFill>
            <a:srgbClr val="E2E8F0"/>
          </a:solidFill>
          <a:ln/>
        </p:spPr>
      </p:sp>
      <p:sp>
        <p:nvSpPr>
          <p:cNvPr id="16" name="Shape 14"/>
          <p:cNvSpPr/>
          <p:nvPr/>
        </p:nvSpPr>
        <p:spPr>
          <a:xfrm>
            <a:off x="6448349" y="3038551"/>
            <a:ext cx="171907" cy="171907"/>
          </a:xfrm>
          <a:prstGeom prst="roundRect">
            <a:avLst>
              <a:gd name="adj" fmla="val 118203"/>
            </a:avLst>
          </a:prstGeom>
          <a:solidFill>
            <a:srgbClr val="E2E8F0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8349" y="3600907"/>
            <a:ext cx="171907" cy="171907"/>
          </a:xfrm>
          <a:prstGeom prst="roundRect">
            <a:avLst>
              <a:gd name="adj" fmla="val 118203"/>
            </a:avLst>
          </a:prstGeom>
          <a:solidFill>
            <a:srgbClr val="E2E8F0"/>
          </a:solidFill>
          <a:ln/>
        </p:spPr>
      </p:sp>
      <p:sp>
        <p:nvSpPr>
          <p:cNvPr id="18" name="Shape 16"/>
          <p:cNvSpPr/>
          <p:nvPr/>
        </p:nvSpPr>
        <p:spPr>
          <a:xfrm>
            <a:off x="6448349" y="4162349"/>
            <a:ext cx="171907" cy="171907"/>
          </a:xfrm>
          <a:prstGeom prst="roundRect">
            <a:avLst>
              <a:gd name="adj" fmla="val 118203"/>
            </a:avLst>
          </a:prstGeom>
          <a:solidFill>
            <a:srgbClr val="E2E8F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71500" y="314554"/>
            <a:ext cx="424373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単一指標分析｜商品クリック数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571500" y="771754"/>
            <a:ext cx="4877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53分でピーク51件。触覚・視覚表現の効果と購入導線の課題を整理。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" y="1447495"/>
            <a:ext cx="1571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ピーク 51件（53分）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23544" y="2057400"/>
            <a:ext cx="4718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洞察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90042" y="2440534"/>
            <a:ext cx="22677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19556" y="2476195"/>
            <a:ext cx="4817974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終盤の明確な誘導（「画面下の画像をクリック」）でクリックが集中し、53分で最大化。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90042" y="3002890"/>
            <a:ext cx="22677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19556" y="3038551"/>
            <a:ext cx="496062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19分は実演中の五感表現（「ぷるん」「さらっ」）で便益が具体化 → クリック20件。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90042" y="3564331"/>
            <a:ext cx="22677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19556" y="3600907"/>
            <a:ext cx="4951476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視聴者数が260人超で安定した30分以降、滞在長い層の関心が行動（クリック）に転換。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52551" y="4005072"/>
            <a:ext cx="283464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019556" y="4162349"/>
            <a:ext cx="491307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カート追加は全編で0件。購入導線の「最後の一押し」が不足し離脱が発生。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620256" y="2057400"/>
            <a:ext cx="4718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施策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482182" y="2440534"/>
            <a:ext cx="22677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715354" y="2476195"/>
            <a:ext cx="496062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カート投入の手順を実演：ボタン位置 → 押下 → 確認までをスマホ画面で段階表示。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478524" y="3002890"/>
            <a:ext cx="235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715354" y="3038551"/>
            <a:ext cx="4903013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UIガイドの常時表示（「カートに追加」バナーのピン留め・拡大）＋山場直後にCTAを重ねる。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481267" y="3564331"/>
            <a:ext cx="235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715354" y="3600907"/>
            <a:ext cx="4893869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Why Nowの強化（30分限定特典／予約送料無料）で決断の背中を押す。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398057" y="4126687"/>
            <a:ext cx="39776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KPI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715354" y="4162349"/>
            <a:ext cx="4837176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クリック→カート到達率、カート追加率、終盤（30分以降）のクリックCVRをモニタリング。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571500" y="6324905"/>
            <a:ext cx="34628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注記: 数値は提供データ（開始1〜53分）に基づく要約。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751722" y="6324905"/>
            <a:ext cx="30915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テンプレート: 分析インサイト（insight_bullets）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1171346"/>
            <a:ext cx="11162995" cy="38405"/>
          </a:xfrm>
          <a:prstGeom prst="roundRect">
            <a:avLst>
              <a:gd name="adj" fmla="val 1190470"/>
            </a:avLst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1362456"/>
            <a:ext cx="3161995" cy="400507"/>
          </a:xfrm>
          <a:prstGeom prst="roundRect">
            <a:avLst>
              <a:gd name="adj" fmla="val 5436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" y="1876349"/>
            <a:ext cx="5467198" cy="4315054"/>
          </a:xfrm>
          <a:prstGeom prst="roundRect">
            <a:avLst>
              <a:gd name="adj" fmla="val 561"/>
            </a:avLst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2551" y="2133295"/>
            <a:ext cx="95098" cy="9509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752551" y="2476195"/>
            <a:ext cx="171907" cy="171907"/>
          </a:xfrm>
          <a:prstGeom prst="roundRect">
            <a:avLst>
              <a:gd name="adj" fmla="val 118203"/>
            </a:avLst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752551" y="3038551"/>
            <a:ext cx="171907" cy="171907"/>
          </a:xfrm>
          <a:prstGeom prst="roundRect">
            <a:avLst>
              <a:gd name="adj" fmla="val 118203"/>
            </a:avLst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752551" y="3600907"/>
            <a:ext cx="171907" cy="171907"/>
          </a:xfrm>
          <a:prstGeom prst="roundRect">
            <a:avLst>
              <a:gd name="adj" fmla="val 118203"/>
            </a:avLst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752551" y="4162349"/>
            <a:ext cx="171907" cy="171907"/>
          </a:xfrm>
          <a:prstGeom prst="roundRect">
            <a:avLst>
              <a:gd name="adj" fmla="val 118203"/>
            </a:avLst>
          </a:prstGeom>
          <a:solidFill>
            <a:srgbClr val="E2E8F0"/>
          </a:solidFill>
          <a:ln/>
        </p:spPr>
      </p:sp>
      <p:sp>
        <p:nvSpPr>
          <p:cNvPr id="13" name="Shape 11"/>
          <p:cNvSpPr/>
          <p:nvPr/>
        </p:nvSpPr>
        <p:spPr>
          <a:xfrm>
            <a:off x="6267298" y="1876349"/>
            <a:ext cx="5467198" cy="4315054"/>
          </a:xfrm>
          <a:prstGeom prst="roundRect">
            <a:avLst>
              <a:gd name="adj" fmla="val 561"/>
            </a:avLst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8349" y="2133295"/>
            <a:ext cx="95098" cy="9509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Shape 13"/>
          <p:cNvSpPr/>
          <p:nvPr/>
        </p:nvSpPr>
        <p:spPr>
          <a:xfrm>
            <a:off x="6448349" y="2476195"/>
            <a:ext cx="171907" cy="171907"/>
          </a:xfrm>
          <a:prstGeom prst="roundRect">
            <a:avLst>
              <a:gd name="adj" fmla="val 118203"/>
            </a:avLst>
          </a:prstGeom>
          <a:solidFill>
            <a:srgbClr val="E2E8F0"/>
          </a:solidFill>
          <a:ln/>
        </p:spPr>
      </p:sp>
      <p:sp>
        <p:nvSpPr>
          <p:cNvPr id="16" name="Shape 14"/>
          <p:cNvSpPr/>
          <p:nvPr/>
        </p:nvSpPr>
        <p:spPr>
          <a:xfrm>
            <a:off x="6448349" y="3038551"/>
            <a:ext cx="171907" cy="171907"/>
          </a:xfrm>
          <a:prstGeom prst="roundRect">
            <a:avLst>
              <a:gd name="adj" fmla="val 118203"/>
            </a:avLst>
          </a:prstGeom>
          <a:solidFill>
            <a:srgbClr val="E2E8F0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8349" y="3600907"/>
            <a:ext cx="171907" cy="171907"/>
          </a:xfrm>
          <a:prstGeom prst="roundRect">
            <a:avLst>
              <a:gd name="adj" fmla="val 118203"/>
            </a:avLst>
          </a:prstGeom>
          <a:solidFill>
            <a:srgbClr val="E2E8F0"/>
          </a:solidFill>
          <a:ln/>
        </p:spPr>
      </p:sp>
      <p:sp>
        <p:nvSpPr>
          <p:cNvPr id="18" name="Shape 16"/>
          <p:cNvSpPr/>
          <p:nvPr/>
        </p:nvSpPr>
        <p:spPr>
          <a:xfrm>
            <a:off x="6448349" y="4162349"/>
            <a:ext cx="171907" cy="171907"/>
          </a:xfrm>
          <a:prstGeom prst="roundRect">
            <a:avLst>
              <a:gd name="adj" fmla="val 118203"/>
            </a:avLst>
          </a:prstGeom>
          <a:solidFill>
            <a:srgbClr val="E2E8F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71500" y="314554"/>
            <a:ext cx="452993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単一指標分析｜チャット＆いいね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571500" y="771754"/>
            <a:ext cx="62014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双方向コミュニケーションと用語解説の効果を整理（34分いいね88／36分チャット16）。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" y="1447495"/>
            <a:ext cx="30294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いいね 88（34分）／チャット 16（36分）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23544" y="2057400"/>
            <a:ext cx="4718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洞察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90042" y="2440534"/>
            <a:ext cx="22677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19556" y="2476195"/>
            <a:ext cx="4951476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双方向の問いかけ（例:「11も見たいですか？」）でリアクション誘発→チャットが集中。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90042" y="3002890"/>
            <a:ext cx="22677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19556" y="3038551"/>
            <a:ext cx="4817974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初心者向け用語解説（「ヘイジー＝霧がかった」）が理解を助け、質問が活性化。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90042" y="3564331"/>
            <a:ext cx="22677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19556" y="3600907"/>
            <a:ext cx="480791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新作実演の開始直後に期待値が高まり、感情表出としていいねが最大化（34分）。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90042" y="4126687"/>
            <a:ext cx="22677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019556" y="4162349"/>
            <a:ext cx="4817974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スタッフの即時補足（「新商品となります」）が会話の流れを維持し深掘りを促進。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620256" y="2057400"/>
            <a:ext cx="4718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施策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482182" y="2440534"/>
            <a:ext cx="22677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715354" y="2476195"/>
            <a:ext cx="4893869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質疑テンプレを台本化（問いかけ→指名→回答）。司会・スタッフの即レス役割を明確化。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478524" y="3002890"/>
            <a:ext cx="235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715354" y="3038551"/>
            <a:ext cx="475122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用語ミニ辞書を準備（1行定義＋使用例）し、初心者質問に即提示。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481267" y="3564331"/>
            <a:ext cx="235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715354" y="3600907"/>
            <a:ext cx="496062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山場直前にリアクション誘導フレーズ（「いいねで教えて」「コメントで色番号」）を挿入。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398057" y="4126687"/>
            <a:ext cx="39776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KPI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715354" y="4162349"/>
            <a:ext cx="491307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チャット/分、いいね/分、質問→回答の平均時間、山場直後のCTA反応率を追跡。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571500" y="6324905"/>
            <a:ext cx="34628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注記: 数値は提供データ（開始1〜53分）に基づく要約。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751722" y="6324905"/>
            <a:ext cx="30915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テンプレート: 分析インサイト（insight_bullets）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1171346"/>
            <a:ext cx="11162995" cy="38405"/>
          </a:xfrm>
          <a:prstGeom prst="roundRect">
            <a:avLst>
              <a:gd name="adj" fmla="val 1190470"/>
            </a:avLst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1362456"/>
            <a:ext cx="5467198" cy="4828946"/>
          </a:xfrm>
          <a:prstGeom prst="roundRect">
            <a:avLst>
              <a:gd name="adj" fmla="val 448"/>
            </a:avLst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2551" y="1619402"/>
            <a:ext cx="95098" cy="9509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752551" y="1886407"/>
            <a:ext cx="2991002" cy="400507"/>
          </a:xfrm>
          <a:prstGeom prst="roundRect">
            <a:avLst>
              <a:gd name="adj" fmla="val 5436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2551" y="2457907"/>
            <a:ext cx="171907" cy="171907"/>
          </a:xfrm>
          <a:prstGeom prst="roundRect">
            <a:avLst>
              <a:gd name="adj" fmla="val 118203"/>
            </a:avLst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752551" y="2776118"/>
            <a:ext cx="171907" cy="171907"/>
          </a:xfrm>
          <a:prstGeom prst="roundRect">
            <a:avLst>
              <a:gd name="adj" fmla="val 118203"/>
            </a:avLst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752551" y="3095244"/>
            <a:ext cx="171907" cy="171907"/>
          </a:xfrm>
          <a:prstGeom prst="roundRect">
            <a:avLst>
              <a:gd name="adj" fmla="val 118203"/>
            </a:avLst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752551" y="3471977"/>
            <a:ext cx="2009851" cy="323698"/>
          </a:xfrm>
          <a:prstGeom prst="roundRect">
            <a:avLst>
              <a:gd name="adj" fmla="val 8308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48356" y="3471977"/>
            <a:ext cx="1352398" cy="323698"/>
          </a:xfrm>
          <a:prstGeom prst="roundRect">
            <a:avLst>
              <a:gd name="adj" fmla="val 8308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7298" y="1362456"/>
            <a:ext cx="5467198" cy="4828946"/>
          </a:xfrm>
          <a:prstGeom prst="roundRect">
            <a:avLst>
              <a:gd name="adj" fmla="val 448"/>
            </a:avLst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8349" y="1619402"/>
            <a:ext cx="95098" cy="9509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Shape 14"/>
          <p:cNvSpPr/>
          <p:nvPr/>
        </p:nvSpPr>
        <p:spPr>
          <a:xfrm>
            <a:off x="6448349" y="1962302"/>
            <a:ext cx="171907" cy="171907"/>
          </a:xfrm>
          <a:prstGeom prst="roundRect">
            <a:avLst>
              <a:gd name="adj" fmla="val 118203"/>
            </a:avLst>
          </a:prstGeom>
          <a:solidFill>
            <a:srgbClr val="E2E8F0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8349" y="2281428"/>
            <a:ext cx="171907" cy="171907"/>
          </a:xfrm>
          <a:prstGeom prst="roundRect">
            <a:avLst>
              <a:gd name="adj" fmla="val 118203"/>
            </a:avLst>
          </a:prstGeom>
          <a:solidFill>
            <a:srgbClr val="E2E8F0"/>
          </a:solidFill>
          <a:ln/>
        </p:spPr>
      </p:sp>
      <p:sp>
        <p:nvSpPr>
          <p:cNvPr id="18" name="Shape 16"/>
          <p:cNvSpPr/>
          <p:nvPr/>
        </p:nvSpPr>
        <p:spPr>
          <a:xfrm>
            <a:off x="6448349" y="2842870"/>
            <a:ext cx="171907" cy="171907"/>
          </a:xfrm>
          <a:prstGeom prst="roundRect">
            <a:avLst>
              <a:gd name="adj" fmla="val 118203"/>
            </a:avLst>
          </a:prstGeom>
          <a:solidFill>
            <a:srgbClr val="E2E8F0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8349" y="3405226"/>
            <a:ext cx="171907" cy="171907"/>
          </a:xfrm>
          <a:prstGeom prst="roundRect">
            <a:avLst>
              <a:gd name="adj" fmla="val 118203"/>
            </a:avLst>
          </a:prstGeom>
          <a:solidFill>
            <a:srgbClr val="E2E8F0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8349" y="3967582"/>
            <a:ext cx="171907" cy="171907"/>
          </a:xfrm>
          <a:prstGeom prst="roundRect">
            <a:avLst>
              <a:gd name="adj" fmla="val 118203"/>
            </a:avLst>
          </a:prstGeom>
          <a:solidFill>
            <a:srgbClr val="E2E8F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71500" y="314554"/>
            <a:ext cx="5968289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複数指標分析｜視聴×クリックの相関と課題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571500" y="771754"/>
            <a:ext cx="6906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視聴者数と商品クリックの関係性、CTR 40.32%（内部推計）、カート追加0件の課題と対策を整理。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23544" y="1543507"/>
            <a:ext cx="9866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相関と示唆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75995" y="1971446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CTR 40.32%（30分視聴者・内部推計）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90042" y="2421331"/>
            <a:ext cx="22677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19556" y="2457907"/>
            <a:ext cx="49514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30分以降、同時視聴が260人超で安定し、クリックは二桁を連発。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90042" y="2740457"/>
            <a:ext cx="22677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19556" y="2776118"/>
            <a:ext cx="465612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滞在が長い視聴者ほど意図が具体化し、商品クリックへ転換。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90042" y="3059582"/>
            <a:ext cx="22677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019556" y="3095244"/>
            <a:ext cx="465612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山場（実演・多色紹介）の直後にクリックが上振れしやすい。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57707" y="3538728"/>
            <a:ext cx="4242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260+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248156" y="3538728"/>
            <a:ext cx="1510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視聴者/分（30分以降）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2953512" y="3538728"/>
            <a:ext cx="367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二桁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3296412" y="3538728"/>
            <a:ext cx="9006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クリック継続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620256" y="1543507"/>
            <a:ext cx="9866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課題と対策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448349" y="1805026"/>
            <a:ext cx="283464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715354" y="1962302"/>
            <a:ext cx="475122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カート追加が全編で0件。購入導線の「最後の一押し」で離脱。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482182" y="2245766"/>
            <a:ext cx="22677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715354" y="2281428"/>
            <a:ext cx="4817974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手順実演：スマホ画面で「商品→カート→確認」までをステップで見せる。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6478524" y="2807208"/>
            <a:ext cx="235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715354" y="2842870"/>
            <a:ext cx="4893869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Why Now訴求：限定・特典・締切（例：30分限定特典、予約送料無料）。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481267" y="3369564"/>
            <a:ext cx="235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715354" y="3405226"/>
            <a:ext cx="482711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UIガイド常時表示：カートボタンの位置を固定バナーや拡大で提示。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6398057" y="3931006"/>
            <a:ext cx="39776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KPI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715354" y="3967582"/>
            <a:ext cx="496062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クリック→カート到達率／カート追加率／山場直後CVRの改善を追跡。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571500" y="6324905"/>
            <a:ext cx="42437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注記: 指標は提供データ（開始1〜53分）に基づく。CTRは内部推計。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7889443" y="6324905"/>
            <a:ext cx="39483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テンプレート: 総括：2カラムまとめ（two_column_summary）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533095" y="1133856"/>
            <a:ext cx="11239805" cy="38405"/>
          </a:xfrm>
          <a:prstGeom prst="roundRect">
            <a:avLst>
              <a:gd name="adj" fmla="val 1190470"/>
            </a:avLst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533095" y="1324051"/>
            <a:ext cx="5667451" cy="4924044"/>
          </a:xfrm>
          <a:prstGeom prst="roundRect">
            <a:avLst>
              <a:gd name="adj" fmla="val 431"/>
            </a:avLst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" y="5419649"/>
            <a:ext cx="933602" cy="286207"/>
          </a:xfrm>
          <a:prstGeom prst="roundRect">
            <a:avLst>
              <a:gd name="adj" fmla="val 1064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0898" y="5505602"/>
            <a:ext cx="114300" cy="114300"/>
          </a:xfrm>
          <a:prstGeom prst="roundRect">
            <a:avLst>
              <a:gd name="adj" fmla="val 200000"/>
            </a:avLst>
          </a:prstGeom>
          <a:solidFill>
            <a:srgbClr val="0EA5E9"/>
          </a:solidFill>
          <a:ln/>
        </p:spPr>
      </p:sp>
      <p:sp>
        <p:nvSpPr>
          <p:cNvPr id="9" name="Shape 7"/>
          <p:cNvSpPr/>
          <p:nvPr/>
        </p:nvSpPr>
        <p:spPr>
          <a:xfrm>
            <a:off x="1777594" y="5419649"/>
            <a:ext cx="933602" cy="286207"/>
          </a:xfrm>
          <a:prstGeom prst="roundRect">
            <a:avLst>
              <a:gd name="adj" fmla="val 1064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62633" y="5505602"/>
            <a:ext cx="114300" cy="114300"/>
          </a:xfrm>
          <a:prstGeom prst="roundRect">
            <a:avLst>
              <a:gd name="adj" fmla="val 200000"/>
            </a:avLst>
          </a:prstGeom>
          <a:solidFill>
            <a:srgbClr val="F59E0B"/>
          </a:solidFill>
          <a:ln/>
        </p:spPr>
      </p:sp>
      <p:sp>
        <p:nvSpPr>
          <p:cNvPr id="11" name="Shape 9"/>
          <p:cNvSpPr/>
          <p:nvPr/>
        </p:nvSpPr>
        <p:spPr>
          <a:xfrm>
            <a:off x="2859329" y="5419649"/>
            <a:ext cx="1733702" cy="286207"/>
          </a:xfrm>
          <a:prstGeom prst="roundRect">
            <a:avLst>
              <a:gd name="adj" fmla="val 1064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44368" y="5505602"/>
            <a:ext cx="114300" cy="114300"/>
          </a:xfrm>
          <a:prstGeom prst="roundRect">
            <a:avLst>
              <a:gd name="adj" fmla="val 200000"/>
            </a:avLst>
          </a:prstGeom>
          <a:solidFill>
            <a:srgbClr val="A855F7"/>
          </a:solidFill>
          <a:ln/>
        </p:spPr>
      </p:sp>
      <p:sp>
        <p:nvSpPr>
          <p:cNvPr id="13" name="Shape 11"/>
          <p:cNvSpPr/>
          <p:nvPr/>
        </p:nvSpPr>
        <p:spPr>
          <a:xfrm>
            <a:off x="694944" y="5800954"/>
            <a:ext cx="1600200" cy="286207"/>
          </a:xfrm>
          <a:prstGeom prst="roundRect">
            <a:avLst>
              <a:gd name="adj" fmla="val 1064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0898" y="5886907"/>
            <a:ext cx="114300" cy="114300"/>
          </a:xfrm>
          <a:prstGeom prst="round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15" name="Shape 13"/>
          <p:cNvSpPr/>
          <p:nvPr/>
        </p:nvSpPr>
        <p:spPr>
          <a:xfrm>
            <a:off x="2444191" y="5800954"/>
            <a:ext cx="1867205" cy="286207"/>
          </a:xfrm>
          <a:prstGeom prst="roundRect">
            <a:avLst>
              <a:gd name="adj" fmla="val 1064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29230" y="5886907"/>
            <a:ext cx="114300" cy="114300"/>
          </a:xfrm>
          <a:prstGeom prst="roundRect">
            <a:avLst>
              <a:gd name="adj" fmla="val 200000"/>
            </a:avLst>
          </a:prstGeom>
          <a:solidFill>
            <a:srgbClr val="EF4444"/>
          </a:solidFill>
          <a:ln/>
        </p:spPr>
      </p:sp>
      <p:sp>
        <p:nvSpPr>
          <p:cNvPr id="17" name="Shape 15"/>
          <p:cNvSpPr/>
          <p:nvPr/>
        </p:nvSpPr>
        <p:spPr>
          <a:xfrm>
            <a:off x="4459529" y="5800954"/>
            <a:ext cx="990295" cy="286207"/>
          </a:xfrm>
          <a:prstGeom prst="roundRect">
            <a:avLst>
              <a:gd name="adj" fmla="val 1064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44568" y="5886907"/>
            <a:ext cx="114300" cy="114300"/>
          </a:xfrm>
          <a:prstGeom prst="roundRect">
            <a:avLst>
              <a:gd name="adj" fmla="val 200000"/>
            </a:avLst>
          </a:prstGeom>
          <a:solidFill>
            <a:srgbClr val="64748B"/>
          </a:solidFill>
          <a:ln/>
        </p:spPr>
      </p:sp>
      <p:sp>
        <p:nvSpPr>
          <p:cNvPr id="19" name="Shape 17"/>
          <p:cNvSpPr/>
          <p:nvPr/>
        </p:nvSpPr>
        <p:spPr>
          <a:xfrm>
            <a:off x="6429146" y="1324051"/>
            <a:ext cx="5343754" cy="2048256"/>
          </a:xfrm>
          <a:prstGeom prst="roundRect">
            <a:avLst>
              <a:gd name="adj" fmla="val 24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90995" y="1552651"/>
            <a:ext cx="95098" cy="9509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Shape 19"/>
          <p:cNvSpPr/>
          <p:nvPr/>
        </p:nvSpPr>
        <p:spPr>
          <a:xfrm>
            <a:off x="6590995" y="2947111"/>
            <a:ext cx="714146" cy="276149"/>
          </a:xfrm>
          <a:prstGeom prst="roundRect">
            <a:avLst>
              <a:gd name="adj" fmla="val 11418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80122" y="2947111"/>
            <a:ext cx="838505" cy="276149"/>
          </a:xfrm>
          <a:prstGeom prst="roundRect">
            <a:avLst>
              <a:gd name="adj" fmla="val 11418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92694" y="2947111"/>
            <a:ext cx="961949" cy="276149"/>
          </a:xfrm>
          <a:prstGeom prst="roundRect">
            <a:avLst>
              <a:gd name="adj" fmla="val 11418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29146" y="3480206"/>
            <a:ext cx="5343754" cy="2066544"/>
          </a:xfrm>
          <a:prstGeom prst="roundRect">
            <a:avLst>
              <a:gd name="adj" fmla="val 24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90995" y="3708806"/>
            <a:ext cx="95098" cy="9509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33095" y="276149"/>
            <a:ext cx="252008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コメント定量分析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533095" y="733349"/>
            <a:ext cx="7715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円グラフでカテゴリ構成比を可視化し、サマリーと示唆を提示（質問25%、ワクワク20%、購入意向20% 等）。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72007" y="5467198"/>
            <a:ext cx="6720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質問 25%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2053742" y="5467198"/>
            <a:ext cx="6720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驚き 15%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3135478" y="5467198"/>
            <a:ext cx="14721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ワクワク・期待感 20%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972007" y="5848502"/>
            <a:ext cx="13386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挨拶・賑やかし 15%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2720340" y="5848502"/>
            <a:ext cx="16056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購入意志・購入検討 20%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735678" y="5848502"/>
            <a:ext cx="7287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その他 5%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762902" y="1476756"/>
            <a:ext cx="8147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サマリー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590995" y="1857146"/>
            <a:ext cx="48390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主要ジャンルは「質問（25%）」「ワクワク・期待感（20%）」「購入意志・購入検討（20%）」で全体の中核を構成。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590995" y="2402129"/>
            <a:ext cx="504840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熱量は高く、機能への関心（FACT）と情緒的共感（STORY）がバランス良く共存。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676949" y="2994660"/>
            <a:ext cx="63642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質問 25%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7466076" y="2994660"/>
            <a:ext cx="75986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期待感 20%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8378647" y="2994660"/>
            <a:ext cx="88422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購入意志 20%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762902" y="3632911"/>
            <a:ext cx="4718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示唆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590995" y="4013302"/>
            <a:ext cx="484906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初心者の疑問に即応する用語ミニ解説を用意し、質問を購買検討に接続。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590995" y="4558284"/>
            <a:ext cx="5020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山場直前に「いいね/コメント」促しを挿入し、感情表出をCTAに連動。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590995" y="4859122"/>
            <a:ext cx="49917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購入意志コメントを拾い、カート投入の手順を短く実演して成約を後押し。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533095" y="6362395"/>
            <a:ext cx="57680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注記: 構成比は提供データのコメント分類（質問/驚き/期待/挨拶/購入意志/その他）に基づく。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7904988" y="6362395"/>
            <a:ext cx="3976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テンプレート: コメント分析：円＋棒ミックス（chart_pie_bar）</a:t>
            </a:r>
            <a:endParaRPr lang="en-US" sz="1000" dirty="0"/>
          </a:p>
        </p:txBody>
      </p:sp>
      <p:pic>
        <p:nvPicPr>
          <p:cNvPr id="46" name="Image 0" descr="preencoded.png">    </p:cNvPr>
          <p:cNvPicPr>
            <a:picLocks noChangeAspect="1"/>
          </p:cNvPicPr>
          <p:nvPr/>
        </p:nvPicPr>
        <p:blipFill>
          <a:blip r:embed="rId1"/>
          <a:srcRect l="-8" r="-8" t="0" b="0"/>
          <a:stretch/>
        </p:blipFill>
        <p:spPr>
          <a:xfrm>
            <a:off x="694944" y="1485900"/>
            <a:ext cx="5343754" cy="2476195"/>
          </a:xfrm>
          <a:prstGeom prst="rect">
            <a:avLst/>
          </a:prstGeom>
        </p:spPr>
      </p:pic>
      <p:pic>
        <p:nvPicPr>
          <p:cNvPr id="4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4" b="-14"/>
          <a:stretch/>
        </p:blipFill>
        <p:spPr>
          <a:xfrm>
            <a:off x="694944" y="4058107"/>
            <a:ext cx="5343754" cy="14292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1171346"/>
            <a:ext cx="11162995" cy="38405"/>
          </a:xfrm>
          <a:prstGeom prst="roundRect">
            <a:avLst>
              <a:gd name="adj" fmla="val 1190470"/>
            </a:avLst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1362456"/>
            <a:ext cx="5467198" cy="4828946"/>
          </a:xfrm>
          <a:prstGeom prst="roundRect">
            <a:avLst>
              <a:gd name="adj" fmla="val 448"/>
            </a:avLst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2551" y="1619402"/>
            <a:ext cx="95098" cy="9509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752551" y="1886407"/>
            <a:ext cx="1819656" cy="400507"/>
          </a:xfrm>
          <a:prstGeom prst="roundRect">
            <a:avLst>
              <a:gd name="adj" fmla="val 5436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2551" y="2457907"/>
            <a:ext cx="209398" cy="209398"/>
          </a:xfrm>
          <a:prstGeom prst="roundRect">
            <a:avLst>
              <a:gd name="adj" fmla="val 79396"/>
            </a:avLst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752551" y="3019349"/>
            <a:ext cx="209398" cy="209398"/>
          </a:xfrm>
          <a:prstGeom prst="roundRect">
            <a:avLst>
              <a:gd name="adj" fmla="val 79396"/>
            </a:avLst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752551" y="3581705"/>
            <a:ext cx="209398" cy="209398"/>
          </a:xfrm>
          <a:prstGeom prst="roundRect">
            <a:avLst>
              <a:gd name="adj" fmla="val 79396"/>
            </a:avLst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752551" y="4219956"/>
            <a:ext cx="1591056" cy="323698"/>
          </a:xfrm>
          <a:prstGeom prst="roundRect">
            <a:avLst>
              <a:gd name="adj" fmla="val 8308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35962" y="4219956"/>
            <a:ext cx="1399946" cy="323698"/>
          </a:xfrm>
          <a:prstGeom prst="roundRect">
            <a:avLst>
              <a:gd name="adj" fmla="val 8308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7298" y="1362456"/>
            <a:ext cx="5467198" cy="4828946"/>
          </a:xfrm>
          <a:prstGeom prst="roundRect">
            <a:avLst>
              <a:gd name="adj" fmla="val 448"/>
            </a:avLst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8349" y="1619402"/>
            <a:ext cx="95098" cy="9509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Shape 14"/>
          <p:cNvSpPr/>
          <p:nvPr/>
        </p:nvSpPr>
        <p:spPr>
          <a:xfrm>
            <a:off x="6448349" y="1962302"/>
            <a:ext cx="209398" cy="209398"/>
          </a:xfrm>
          <a:prstGeom prst="roundRect">
            <a:avLst>
              <a:gd name="adj" fmla="val 79396"/>
            </a:avLst>
          </a:prstGeom>
          <a:solidFill>
            <a:srgbClr val="E2E8F0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8349" y="2281428"/>
            <a:ext cx="209398" cy="209398"/>
          </a:xfrm>
          <a:prstGeom prst="roundRect">
            <a:avLst>
              <a:gd name="adj" fmla="val 79396"/>
            </a:avLst>
          </a:prstGeom>
          <a:solidFill>
            <a:srgbClr val="E2E8F0"/>
          </a:solidFill>
          <a:ln/>
        </p:spPr>
      </p:sp>
      <p:sp>
        <p:nvSpPr>
          <p:cNvPr id="18" name="Shape 16"/>
          <p:cNvSpPr/>
          <p:nvPr/>
        </p:nvSpPr>
        <p:spPr>
          <a:xfrm>
            <a:off x="6448349" y="2842870"/>
            <a:ext cx="209398" cy="209398"/>
          </a:xfrm>
          <a:prstGeom prst="roundRect">
            <a:avLst>
              <a:gd name="adj" fmla="val 79396"/>
            </a:avLst>
          </a:prstGeom>
          <a:solidFill>
            <a:srgbClr val="E2E8F0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8349" y="3405226"/>
            <a:ext cx="209398" cy="209398"/>
          </a:xfrm>
          <a:prstGeom prst="roundRect">
            <a:avLst>
              <a:gd name="adj" fmla="val 79396"/>
            </a:avLst>
          </a:prstGeom>
          <a:solidFill>
            <a:srgbClr val="E2E8F0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8349" y="4043477"/>
            <a:ext cx="1752905" cy="323698"/>
          </a:xfrm>
          <a:prstGeom prst="roundRect">
            <a:avLst>
              <a:gd name="adj" fmla="val 8308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96351" y="4043477"/>
            <a:ext cx="1352398" cy="323698"/>
          </a:xfrm>
          <a:prstGeom prst="roundRect">
            <a:avLst>
              <a:gd name="adj" fmla="val 8308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43846" y="4043477"/>
            <a:ext cx="1086307" cy="323698"/>
          </a:xfrm>
          <a:prstGeom prst="roundRect">
            <a:avLst>
              <a:gd name="adj" fmla="val 8308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71500" y="314554"/>
            <a:ext cx="367223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総合考察｜成功要因と課題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571500" y="771754"/>
            <a:ext cx="79443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成功要因：FACT×STORYの語り分けとカメラのフォーカス活用。課題：カート投入での離脱をどう防ぐかを整理。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23544" y="1543507"/>
            <a:ext cx="8147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成功要因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75995" y="1971446"/>
            <a:ext cx="1686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FACT × STORY の両立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09244" y="2440534"/>
            <a:ext cx="22677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57046" y="2457907"/>
            <a:ext cx="461772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機能(FACT)と体験(STORY)を織り交ぜ、信頼と共感を同時に醸成。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09244" y="3002890"/>
            <a:ext cx="22677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057046" y="3019349"/>
            <a:ext cx="4817974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カメラの前後動作でフォーカスと面積比を活用し、質感を明瞭に提示。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09244" y="3564331"/>
            <a:ext cx="22677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57046" y="3581705"/>
            <a:ext cx="465612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山場（新作実演・多色比較）で感情を喚起し、滞在と反応を伸長。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57707" y="4286707"/>
            <a:ext cx="3383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276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169518" y="4286707"/>
            <a:ext cx="11676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人（視聴ピーク）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2541118" y="4286707"/>
            <a:ext cx="2624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88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2775204" y="4286707"/>
            <a:ext cx="10533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いいね（34分）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620256" y="1543507"/>
            <a:ext cx="11576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課題と対応策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448349" y="1824228"/>
            <a:ext cx="283464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752844" y="1962302"/>
            <a:ext cx="42656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カート追加が0件。購入導線の「最後の一押し」で離脱。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6501384" y="2264969"/>
            <a:ext cx="22677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752844" y="2281428"/>
            <a:ext cx="4817974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手順実演：スマホ画面で「商品→カート→確認」までをステップで見せる。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497726" y="2826410"/>
            <a:ext cx="235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752844" y="2842870"/>
            <a:ext cx="4893869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Why Now訴求：限定・特典・締切（例：30分限定特典、予約送料無料）。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6500470" y="3388766"/>
            <a:ext cx="235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752844" y="3405226"/>
            <a:ext cx="482711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UIガイド常時表示：カート位置を固定バナーや拡大で提示し迷いを削減。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553505" y="4110228"/>
            <a:ext cx="5001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到達率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7029907" y="4110228"/>
            <a:ext cx="11676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クリック→カート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401507" y="4110228"/>
            <a:ext cx="5001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追加率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8876995" y="4110228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カート追加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9849002" y="4110228"/>
            <a:ext cx="367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CVR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10184587" y="4110228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山場直後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571500" y="6324905"/>
            <a:ext cx="51965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注記: 提供データ（開始1〜53分）に基づく総括。数値はレポート内の実測値を参照。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7889443" y="6324905"/>
            <a:ext cx="39483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テンプレート: 総括：2カラムまとめ（two_column_summary）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552298" y="1152144"/>
            <a:ext cx="11201400" cy="38405"/>
          </a:xfrm>
          <a:prstGeom prst="roundRect">
            <a:avLst>
              <a:gd name="adj" fmla="val 1190470"/>
            </a:avLst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552298" y="1343254"/>
            <a:ext cx="5486400" cy="1362456"/>
          </a:xfrm>
          <a:prstGeom prst="roundRect">
            <a:avLst>
              <a:gd name="adj" fmla="val 5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4146" y="1485900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1171346" y="2281428"/>
            <a:ext cx="1543507" cy="276149"/>
          </a:xfrm>
          <a:prstGeom prst="roundRect">
            <a:avLst>
              <a:gd name="adj" fmla="val 11418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1605" y="2281428"/>
            <a:ext cx="923544" cy="276149"/>
          </a:xfrm>
          <a:prstGeom prst="roundRect">
            <a:avLst>
              <a:gd name="adj" fmla="val 11418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2298" y="2833726"/>
            <a:ext cx="5486400" cy="1009498"/>
          </a:xfrm>
          <a:prstGeom prst="roundRect">
            <a:avLst>
              <a:gd name="adj" fmla="val 102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4146" y="2976372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2563EB"/>
          </a:solidFill>
          <a:ln/>
        </p:spPr>
      </p:sp>
      <p:sp>
        <p:nvSpPr>
          <p:cNvPr id="12" name="Shape 10"/>
          <p:cNvSpPr/>
          <p:nvPr/>
        </p:nvSpPr>
        <p:spPr>
          <a:xfrm>
            <a:off x="552298" y="3972154"/>
            <a:ext cx="5486400" cy="1009498"/>
          </a:xfrm>
          <a:prstGeom prst="roundRect">
            <a:avLst>
              <a:gd name="adj" fmla="val 102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4146" y="4114800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2563EB"/>
          </a:solidFill>
          <a:ln/>
        </p:spPr>
      </p:sp>
      <p:sp>
        <p:nvSpPr>
          <p:cNvPr id="14" name="Shape 12"/>
          <p:cNvSpPr/>
          <p:nvPr/>
        </p:nvSpPr>
        <p:spPr>
          <a:xfrm>
            <a:off x="6267298" y="1343254"/>
            <a:ext cx="5486400" cy="790956"/>
          </a:xfrm>
          <a:prstGeom prst="roundRect">
            <a:avLst>
              <a:gd name="adj" fmla="val 16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29146" y="1485900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2563EB"/>
          </a:solidFill>
          <a:ln/>
        </p:spPr>
      </p:sp>
      <p:sp>
        <p:nvSpPr>
          <p:cNvPr id="16" name="Shape 14"/>
          <p:cNvSpPr/>
          <p:nvPr/>
        </p:nvSpPr>
        <p:spPr>
          <a:xfrm>
            <a:off x="6267298" y="2259482"/>
            <a:ext cx="5486400" cy="1362456"/>
          </a:xfrm>
          <a:prstGeom prst="roundRect">
            <a:avLst>
              <a:gd name="adj" fmla="val 5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29146" y="2403043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2563EB"/>
          </a:solidFill>
          <a:ln/>
        </p:spPr>
      </p:sp>
      <p:sp>
        <p:nvSpPr>
          <p:cNvPr id="18" name="Shape 16"/>
          <p:cNvSpPr/>
          <p:nvPr/>
        </p:nvSpPr>
        <p:spPr>
          <a:xfrm>
            <a:off x="6886346" y="3197657"/>
            <a:ext cx="914400" cy="276149"/>
          </a:xfrm>
          <a:prstGeom prst="roundRect">
            <a:avLst>
              <a:gd name="adj" fmla="val 11418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70241" y="3197657"/>
            <a:ext cx="1410005" cy="276149"/>
          </a:xfrm>
          <a:prstGeom prst="roundRect">
            <a:avLst>
              <a:gd name="adj" fmla="val 11418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52298" y="295351"/>
            <a:ext cx="422452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アクションプラン（次回配信）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552298" y="752551"/>
            <a:ext cx="4010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次回配信に向けた5つの改善施策をステップ形式で整理。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34847" y="1533449"/>
            <a:ext cx="2340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71346" y="1485900"/>
            <a:ext cx="125547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購入導線の実演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71346" y="1772107"/>
            <a:ext cx="4679899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スマホ画面で「商品→カート→確認」を段階表示。山場直後に実施し迷いを解消。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257300" y="2328977"/>
            <a:ext cx="146486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クリック→カート到達率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2867558" y="2328977"/>
            <a:ext cx="84582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カート追加率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834847" y="3023921"/>
            <a:ext cx="2340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171346" y="2976372"/>
            <a:ext cx="2159813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希少性の創出（Why Now）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171346" y="3262579"/>
            <a:ext cx="469910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30分限定特典／予約送料無料／在庫残数表示などで「今買う理由」を明確化。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34847" y="4162349"/>
            <a:ext cx="2340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171346" y="4114800"/>
            <a:ext cx="125547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五感表現の深化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171346" y="4401007"/>
            <a:ext cx="474665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「肌に溶け込む」「春の風のように軽い」など、質感・温度・使用シーンを一言で訴求。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549847" y="1533449"/>
            <a:ext cx="2340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886346" y="1485900"/>
            <a:ext cx="168432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事前雑談配信（5分）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886346" y="1772107"/>
            <a:ext cx="410839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本編前に雑談で期待値形成。開始時の同接と定着率を底上げ。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549847" y="2450592"/>
            <a:ext cx="2340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886346" y="2403043"/>
            <a:ext cx="173187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インタラクティブ診断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886346" y="2688336"/>
            <a:ext cx="470824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コメントに応じて色を即提案（イエベ/ブルベ等）→提案直後にCTAを重ねて誘導。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972300" y="3245206"/>
            <a:ext cx="83667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提案直後CVR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7956194" y="3245206"/>
            <a:ext cx="133136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チャット→クリック率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552298" y="6344107"/>
            <a:ext cx="50054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注記: 施策は提供データ（開始1〜53分）の示唆に基づく。KPIは次回配信で計測。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110728" y="6344107"/>
            <a:ext cx="37481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テンプレート: アクションプラン：ステップ（action_steps）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2026-01-18T10:16:00Z</dcterms:created>
  <dcterms:modified xsi:type="dcterms:W3CDTF">2026-01-18T10:16:00Z</dcterms:modified>
</cp:coreProperties>
</file>